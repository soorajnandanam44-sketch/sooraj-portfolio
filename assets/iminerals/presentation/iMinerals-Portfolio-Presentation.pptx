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a2de1aa7fd4dce" /><Relationship Type="http://schemas.openxmlformats.org/officeDocument/2006/relationships/extended-properties" Target="/docProps/app.xml" Id="R01682b69709c46ca" /><Relationship Type="http://schemas.openxmlformats.org/officeDocument/2006/relationships/officeDocument" Target="/ppt/presentation.xml" Id="R85df3eb7330643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cb32bad4f34e66"/>
  </p:sldMasterIdLst>
  <p:notesMasterIdLst>
    <p:notesMasterId xmlns:r="http://schemas.openxmlformats.org/officeDocument/2006/relationships" r:id="R3dd08b56760e4183"/>
  </p:notesMasterIdLst>
  <p:sldIdLst>
    <p:sldId xmlns:r="http://schemas.openxmlformats.org/officeDocument/2006/relationships" id="256" r:id="R3d086a6b62ab46e7"/>
    <p:sldId xmlns:r="http://schemas.openxmlformats.org/officeDocument/2006/relationships" id="257" r:id="R6f14caeb571d4de1"/>
    <p:sldId xmlns:r="http://schemas.openxmlformats.org/officeDocument/2006/relationships" id="258" r:id="R7e56e9526a8a4a54"/>
    <p:sldId xmlns:r="http://schemas.openxmlformats.org/officeDocument/2006/relationships" id="259" r:id="Rf3230b6d37644083"/>
    <p:sldId xmlns:r="http://schemas.openxmlformats.org/officeDocument/2006/relationships" id="260" r:id="R67d2f311cfc94781"/>
    <p:sldId xmlns:r="http://schemas.openxmlformats.org/officeDocument/2006/relationships" id="261" r:id="Rf77f870cf73a43af"/>
    <p:sldId xmlns:r="http://schemas.openxmlformats.org/officeDocument/2006/relationships" id="262" r:id="Rb270b41cd2664a43"/>
    <p:sldId xmlns:r="http://schemas.openxmlformats.org/officeDocument/2006/relationships" id="263" r:id="Ra4a80975b7c5426f"/>
    <p:sldId xmlns:r="http://schemas.openxmlformats.org/officeDocument/2006/relationships" id="264" r:id="R11d325644ff74bb5"/>
    <p:sldId xmlns:r="http://schemas.openxmlformats.org/officeDocument/2006/relationships" id="265" r:id="R395118c53a304b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6974ad5ce64ea6" /><Relationship Type="http://schemas.openxmlformats.org/officeDocument/2006/relationships/slideMaster" Target="/ppt/slideMasters/slideMaster1.xml" Id="Rc3cb32bad4f34e66" /><Relationship Type="http://schemas.openxmlformats.org/officeDocument/2006/relationships/notesMaster" Target="/ppt/notesMasters/notesMaster1.xml" Id="R3dd08b56760e4183" /><Relationship Type="http://schemas.openxmlformats.org/officeDocument/2006/relationships/presProps" Target="/ppt/presProps.xml" Id="Rcdb7b3593a664ae1" /><Relationship Type="http://schemas.openxmlformats.org/officeDocument/2006/relationships/tableStyles" Target="/ppt/tableStyles.xml" Id="R26dcdafcce2a4ae4" /><Relationship Type="http://schemas.openxmlformats.org/officeDocument/2006/relationships/slide" Target="/ppt/slides/slide1.xml" Id="R3d086a6b62ab46e7" /><Relationship Type="http://schemas.openxmlformats.org/officeDocument/2006/relationships/slide" Target="/ppt/slides/slide2.xml" Id="R6f14caeb571d4de1" /><Relationship Type="http://schemas.openxmlformats.org/officeDocument/2006/relationships/slide" Target="/ppt/slides/slide3.xml" Id="R7e56e9526a8a4a54" /><Relationship Type="http://schemas.openxmlformats.org/officeDocument/2006/relationships/slide" Target="/ppt/slides/slide4.xml" Id="Rf3230b6d37644083" /><Relationship Type="http://schemas.openxmlformats.org/officeDocument/2006/relationships/slide" Target="/ppt/slides/slide5.xml" Id="R67d2f311cfc94781" /><Relationship Type="http://schemas.openxmlformats.org/officeDocument/2006/relationships/slide" Target="/ppt/slides/slide6.xml" Id="Rf77f870cf73a43af" /><Relationship Type="http://schemas.openxmlformats.org/officeDocument/2006/relationships/slide" Target="/ppt/slides/slide7.xml" Id="Rb270b41cd2664a43" /><Relationship Type="http://schemas.openxmlformats.org/officeDocument/2006/relationships/slide" Target="/ppt/slides/slide8.xml" Id="Ra4a80975b7c5426f" /><Relationship Type="http://schemas.openxmlformats.org/officeDocument/2006/relationships/slide" Target="/ppt/slides/slide9.xml" Id="R11d325644ff74bb5" /><Relationship Type="http://schemas.openxmlformats.org/officeDocument/2006/relationships/slide" Target="/ppt/slides/slide10.xml" Id="R395118c53a304b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51859fa0114e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eb49dcb2dc47f0" /><Relationship Type="http://schemas.openxmlformats.org/officeDocument/2006/relationships/notesMaster" Target="/ppt/notesMasters/notesMaster1.xml" Id="R5d5c6097ac0146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51ac56c0b54a1c" /><Relationship Type="http://schemas.openxmlformats.org/officeDocument/2006/relationships/notesMaster" Target="/ppt/notesMasters/notesMaster1.xml" Id="R44a09a93128446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6c21eca72e4a86" /><Relationship Type="http://schemas.openxmlformats.org/officeDocument/2006/relationships/notesMaster" Target="/ppt/notesMasters/notesMaster1.xml" Id="R29632832ed544a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93b9292c0c4039" /><Relationship Type="http://schemas.openxmlformats.org/officeDocument/2006/relationships/notesMaster" Target="/ppt/notesMasters/notesMaster1.xml" Id="Rfb295a98726640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e1ae5c052240d8" /><Relationship Type="http://schemas.openxmlformats.org/officeDocument/2006/relationships/notesMaster" Target="/ppt/notesMasters/notesMaster1.xml" Id="R7820580b8fd94d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c9579a93884cc6" /><Relationship Type="http://schemas.openxmlformats.org/officeDocument/2006/relationships/notesMaster" Target="/ppt/notesMasters/notesMaster1.xml" Id="R9807aee4de324d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5fee65f15942bd" /><Relationship Type="http://schemas.openxmlformats.org/officeDocument/2006/relationships/notesMaster" Target="/ppt/notesMasters/notesMaster1.xml" Id="R71ba17d41d8e45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3560a8b32e482f" /><Relationship Type="http://schemas.openxmlformats.org/officeDocument/2006/relationships/notesMaster" Target="/ppt/notesMasters/notesMaster1.xml" Id="Rdce496d33f234a9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5468d3a97d4be5" /><Relationship Type="http://schemas.openxmlformats.org/officeDocument/2006/relationships/notesMaster" Target="/ppt/notesMasters/notesMaster1.xml" Id="R9d09a931e3ec410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d71b29c75b46ad" /><Relationship Type="http://schemas.openxmlformats.org/officeDocument/2006/relationships/notesMaster" Target="/ppt/notesMasters/notesMaster1.xml" Id="R6962b16762514f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brand and packaging references supplied by the designer: zinc.png and Frame 23.png. Cover scene is a newly created AI concept mockup based on those references. Presentation narrative is drafted from the supplied design work, not from documented research or performance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problem is a portfolio framing inferred from the supplied artwork. No interviews, market research, client brief, medical outcomes, or usability findings were supplied. Source visual: Frame 24.png.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Interpretive description of visible design choices in zinc.png, Frame 23.png, Frame 24.png, and iminerals.pdf. These are design intentions rather than tested effects.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Hex colours are proposed presentation tokens sampled/visually interpreted from the provided artwork, not verified official brand specifications. Burgundy, warm ivory, silver, and ink reflect the supplied scenes and packaging.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supplied packaging combines a serif brand wordmark with sans serif product information. This slide illustrates that contrast using Nimbus Roman and Nimbus Sans, chosen for this presentation; it does not assert the original font families.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Supplied artwork: Frame 23.png. Product claims shown within the original artwork are reproduced as design content, not independently verified medical statements. No production-ready dielines or print specifications were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Supplied original asset: zinc.png. The portfolio caption describes the visual qualities of the artwork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New AI-generated portfolio mockup using zinc.png as the packaging reference. This is a product visualization concept, not a record of a manufactured object.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iminerals.pdf, page 1, top 740 points. This is a supplied website design mockup, not a claim of a live implemented shop. Existing health and promotional copy is part of the original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Outcome refers to the visible design system and presentation deliverables. No commercial launch, sales, conversion, or brand-awareness results are claimed. Case study prepared for Sooraj Somarajan from supplied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cf0e9ff8d84c6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ae2dec81be480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5fd0021b44440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94267c4c6b46c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90eed7518743e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de67b8161145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8402ED8-C2A5-4199-B869-CDB68E16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44C7D03-72D5-419E-A681-0138C676DE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B0621720-4F09-4637-B9CF-24B3C13C5DE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D4E66A5-D0B4-4618-9374-D5410979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5E86E72-45A1-4F3F-972C-0D1C56BF8A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2795BCF-DF8C-4C68-AF93-48790A02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681AA0F-3CFA-4E2A-90B9-8F9CE681F6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4F331B5F-EDBB-477C-82A2-13B570ECF0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36DC750-F9AF-4C31-A607-16BA73D6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1BF4C23-5F21-4FA5-A19B-5FDD9484E0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4DEFBC2-87CE-4654-9457-F6D60AED83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EE04D22-5DB2-4B13-84AD-2A9193CE3F4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DD524A1-F05C-420B-99FE-4DA643D9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5978004-1BBE-415C-8DDF-00A6E35FD7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4019277-EBDA-4DC5-B835-93BBC3DBAA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6955cf1c6a4b80" /><Relationship Type="http://schemas.openxmlformats.org/officeDocument/2006/relationships/slideLayout" Target="/ppt/slideLayouts/slideLayout1.xml" Id="R6e40c9b02044494a" /><Relationship Type="http://schemas.openxmlformats.org/officeDocument/2006/relationships/slideLayout" Target="/ppt/slideLayouts/slideLayout2.xml" Id="Rb02ac207ed304066" /><Relationship Type="http://schemas.openxmlformats.org/officeDocument/2006/relationships/slideLayout" Target="/ppt/slideLayouts/slideLayout3.xml" Id="R9491acc142584837" /><Relationship Type="http://schemas.openxmlformats.org/officeDocument/2006/relationships/slideLayout" Target="/ppt/slideLayouts/slideLayout4.xml" Id="R61c412c2f88b4364" /><Relationship Type="http://schemas.openxmlformats.org/officeDocument/2006/relationships/slideLayout" Target="/ppt/slideLayouts/slideLayout5.xml" Id="R85b706cf32344ad4" /><Relationship Type="http://schemas.openxmlformats.org/officeDocument/2006/relationships/slideLayout" Target="/ppt/slideLayouts/slideLayout6.xml" Id="R4a330e12970940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40c9b02044494a"/>
    <p:sldLayoutId xmlns:r="http://schemas.openxmlformats.org/officeDocument/2006/relationships" id="2147483650" r:id="Rb02ac207ed304066"/>
    <p:sldLayoutId xmlns:r="http://schemas.openxmlformats.org/officeDocument/2006/relationships" id="2147483651" r:id="R9491acc142584837"/>
    <p:sldLayoutId xmlns:r="http://schemas.openxmlformats.org/officeDocument/2006/relationships" id="2147483652" r:id="R61c412c2f88b4364"/>
    <p:sldLayoutId xmlns:r="http://schemas.openxmlformats.org/officeDocument/2006/relationships" id="2147483653" r:id="R85b706cf32344ad4"/>
    <p:sldLayoutId xmlns:r="http://schemas.openxmlformats.org/officeDocument/2006/relationships" id="2147483654" r:id="R4a330e12970940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b6095fb6014fec" /><Relationship Type="http://schemas.openxmlformats.org/officeDocument/2006/relationships/image" Target="/ppt/media/image.png" Id="R43e4a0442252447d" /><Relationship Type="http://schemas.openxmlformats.org/officeDocument/2006/relationships/notesSlide" Target="/ppt/notesSlides/notesSlide1.xml" Id="R038310d3d8b241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23320ab5704016" /><Relationship Type="http://schemas.openxmlformats.org/officeDocument/2006/relationships/image" Target="/ppt/media/image2.png" Id="Rd6c2fbd06d6f46a2" /><Relationship Type="http://schemas.openxmlformats.org/officeDocument/2006/relationships/notesSlide" Target="/ppt/notesSlides/notesSlide2.xml" Id="Re7f4744a53c34a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e296ba1a5e4e98" /><Relationship Type="http://schemas.openxmlformats.org/officeDocument/2006/relationships/notesSlide" Target="/ppt/notesSlides/notesSlide3.xml" Id="R1effaad7e60c4e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a247416496456a" /><Relationship Type="http://schemas.openxmlformats.org/officeDocument/2006/relationships/notesSlide" Target="/ppt/notesSlides/notesSlide4.xml" Id="Re01d18cecab346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27289e2d9d481f" /><Relationship Type="http://schemas.openxmlformats.org/officeDocument/2006/relationships/notesSlide" Target="/ppt/notesSlides/notesSlide5.xml" Id="Ra4c5e0856d0040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1689472ee048f3" /><Relationship Type="http://schemas.openxmlformats.org/officeDocument/2006/relationships/image" Target="/ppt/media/image3.png" Id="R008d308f78b2480e" /><Relationship Type="http://schemas.openxmlformats.org/officeDocument/2006/relationships/notesSlide" Target="/ppt/notesSlides/notesSlide6.xml" Id="R1909f539a5b641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a189437da14945" /><Relationship Type="http://schemas.openxmlformats.org/officeDocument/2006/relationships/image" Target="/ppt/media/image4.png" Id="R29304ca856f54cf3" /><Relationship Type="http://schemas.openxmlformats.org/officeDocument/2006/relationships/notesSlide" Target="/ppt/notesSlides/notesSlide7.xml" Id="R2ca0e0d129a349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7801aebd4e4683" /><Relationship Type="http://schemas.openxmlformats.org/officeDocument/2006/relationships/image" Target="/ppt/media/image5.png" Id="R0f64d4fd90cd4464" /><Relationship Type="http://schemas.openxmlformats.org/officeDocument/2006/relationships/notesSlide" Target="/ppt/notesSlides/notesSlide8.xml" Id="R64d08ba25d1643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92a0070b3640fb" /><Relationship Type="http://schemas.openxmlformats.org/officeDocument/2006/relationships/image" Target="/ppt/media/image6.png" Id="Rdea62c9bc4d943e3" /><Relationship Type="http://schemas.openxmlformats.org/officeDocument/2006/relationships/notesSlide" Target="/ppt/notesSlides/notesSlide9.xml" Id="Rf785801270ef4c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98c41048364146" /><Relationship Type="http://schemas.openxmlformats.org/officeDocument/2006/relationships/notesSlide" Target="/ppt/notesSlides/notesSlide10.xml" Id="R8fdb600d43ad42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e4a0442252447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D257B-4401-451A-9E80-20257BD5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638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0707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00707"/>
                </a:solidFill>
                <a:latin typeface="Nimbus Sans"/>
                <a:ea typeface="Nimbus Sans"/>
                <a:cs typeface="Nimbus Sans"/>
              </a:rPr>
              <a:t>BRAND IDENTITY / PACKAGING / ART DIRECTION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F385AD-0E6E-4117-A04D-1C54C6EA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5905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7350" b="0">
                <a:solidFill>
                  <a:srgbClr val="600707"/>
                </a:solidFill>
                <a:latin typeface="Nimbus Roman"/>
                <a:ea typeface="Nimbus Roman"/>
                <a:cs typeface="Nimbus Roman"/>
              </a:defRPr>
            </a:pPr>
            <a:r>
              <a:rPr sz="7350" b="0">
                <a:solidFill>
                  <a:srgbClr val="600707"/>
                </a:solidFill>
                <a:latin typeface="Nimbus Roman"/>
                <a:ea typeface="Nimbus Roman"/>
                <a:cs typeface="Nimbus Roman"/>
              </a:rPr>
              <a:t>iMinerals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467D44-CFBE-4DC0-95D4-DFA3CC85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028950"/>
            <a:ext cx="4524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600707"/>
                </a:solidFill>
                <a:latin typeface="Nimbus Sans"/>
                <a:ea typeface="Nimbus Sans"/>
                <a:cs typeface="Nimbus Sans"/>
              </a:defRPr>
            </a:pPr>
            <a:r>
              <a:rPr sz="2925" b="0">
                <a:solidFill>
                  <a:srgbClr val="600707"/>
                </a:solidFill>
                <a:latin typeface="Nimbus Sans"/>
                <a:ea typeface="Nimbus Sans"/>
                <a:cs typeface="Nimbus Sans"/>
              </a:rPr>
              <a:t>Everyday wellness,</a:t>
            </a:r>
          </a:p>
          <a:p xmlns:a="http://schemas.openxmlformats.org/drawingml/2006/main">
            <a:pPr>
              <a:defRPr sz="2925" b="0">
                <a:solidFill>
                  <a:srgbClr val="600707"/>
                </a:solidFill>
                <a:latin typeface="Nimbus Sans"/>
                <a:ea typeface="Nimbus Sans"/>
                <a:cs typeface="Nimbus Sans"/>
              </a:defRPr>
            </a:pPr>
            <a:r>
              <a:rPr sz="2925" b="0">
                <a:solidFill>
                  <a:srgbClr val="600707"/>
                </a:solidFill>
                <a:latin typeface="Nimbus Sans"/>
                <a:ea typeface="Nimbus Sans"/>
                <a:cs typeface="Nimbus Sans"/>
              </a:rPr>
              <a:t>clearly expressed.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E09833-ECA9-4E02-ADD6-2FB52C96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5315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0707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600707"/>
                </a:solidFill>
                <a:latin typeface="Nimbus Sans"/>
                <a:ea typeface="Nimbus Sans"/>
                <a:cs typeface="Nimbus Sans"/>
              </a:rPr>
              <a:t>A branding case study by Sooraj Somarajan</a:t>
            </a:r>
          </a:p>
        </p:txBody>
      </p:sp>
    </p:spTree>
    <p:extLst>
      <p:ext uri="{BB962C8B-B14F-4D97-AF65-F5344CB8AC3E}">
        <p14:creationId xmlns:p14="http://schemas.microsoft.com/office/powerpoint/2010/main" val="5666878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736F79-5FBC-4DEF-A517-082BECD0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0707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00707"/>
                </a:solidFill>
                <a:latin typeface="Nimbus Sans"/>
                <a:ea typeface="Nimbus Sans"/>
                <a:cs typeface="Nimbus Sans"/>
              </a:rPr>
              <a:t>THE DESIGN CHALLENGE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605B8-696C-48F2-A2C1-987CB1DF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0707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00707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D9C9CE-994B-4F1B-9C40-05590044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71575"/>
            <a:ext cx="58102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650" b="0">
                <a:solidFill>
                  <a:srgbClr val="600707"/>
                </a:solidFill>
                <a:latin typeface="Nimbus Roman"/>
                <a:ea typeface="Nimbus Roman"/>
                <a:cs typeface="Nimbus Roman"/>
              </a:defRPr>
            </a:pPr>
            <a:r>
              <a:rPr sz="4650" b="0">
                <a:solidFill>
                  <a:srgbClr val="600707"/>
                </a:solidFill>
                <a:latin typeface="Nimbus Roman"/>
                <a:ea typeface="Nimbus Roman"/>
                <a:cs typeface="Nimbus Roman"/>
              </a:rPr>
              <a:t>Make the range</a:t>
            </a:r>
          </a:p>
          <a:p xmlns:a="http://schemas.openxmlformats.org/drawingml/2006/main">
            <a:pPr>
              <a:defRPr sz="4650" b="0">
                <a:solidFill>
                  <a:srgbClr val="600707"/>
                </a:solidFill>
                <a:latin typeface="Nimbus Roman"/>
                <a:ea typeface="Nimbus Roman"/>
                <a:cs typeface="Nimbus Roman"/>
              </a:defRPr>
            </a:pPr>
            <a:r>
              <a:rPr sz="4650" b="0">
                <a:solidFill>
                  <a:srgbClr val="600707"/>
                </a:solidFill>
                <a:latin typeface="Nimbus Roman"/>
                <a:ea typeface="Nimbus Roman"/>
                <a:cs typeface="Nimbus Roman"/>
              </a:rPr>
              <a:t>feel clear.</a:t>
            </a:r>
          </a:p>
          <a:p xmlns:a="http://schemas.openxmlformats.org/drawingml/2006/main">
            <a:pPr>
              <a:defRPr sz="4650" b="0">
                <a:solidFill>
                  <a:srgbClr val="600707"/>
                </a:solidFill>
                <a:latin typeface="Nimbus Roman"/>
                <a:ea typeface="Nimbus Roman"/>
                <a:cs typeface="Nimbus Roman"/>
              </a:defRPr>
            </a:pPr>
            <a:r>
              <a:rPr sz="4650" b="0">
                <a:solidFill>
                  <a:srgbClr val="600707"/>
                </a:solidFill>
                <a:latin typeface="Nimbus Roman"/>
                <a:ea typeface="Nimbus Roman"/>
                <a:cs typeface="Nimbus Roman"/>
              </a:rPr>
              <a:t>Make the brand</a:t>
            </a:r>
          </a:p>
          <a:p xmlns:a="http://schemas.openxmlformats.org/drawingml/2006/main">
            <a:pPr>
              <a:defRPr sz="4650" b="0">
                <a:solidFill>
                  <a:srgbClr val="600707"/>
                </a:solidFill>
                <a:latin typeface="Nimbus Roman"/>
                <a:ea typeface="Nimbus Roman"/>
                <a:cs typeface="Nimbus Roman"/>
              </a:defRPr>
            </a:pPr>
            <a:r>
              <a:rPr sz="4650" b="0">
                <a:solidFill>
                  <a:srgbClr val="600707"/>
                </a:solidFill>
                <a:latin typeface="Nimbus Roman"/>
                <a:ea typeface="Nimbus Roman"/>
                <a:cs typeface="Nimbus Roman"/>
              </a:rPr>
              <a:t>feel human.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B0108-54AC-4D41-9F1C-8CBB2B66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24375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00707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600707"/>
                </a:solidFill>
                <a:latin typeface="Nimbus Sans"/>
                <a:ea typeface="Nimbus Sans"/>
                <a:cs typeface="Nimbus Sans"/>
              </a:rPr>
              <a:t>The design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79BF7A-9AA7-4948-B70A-7883022E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81575"/>
            <a:ext cx="4953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11C19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211C19"/>
                </a:solidFill>
                <a:latin typeface="Nimbus Sans"/>
                <a:ea typeface="Nimbus Sans"/>
                <a:cs typeface="Nimbus Sans"/>
              </a:rPr>
              <a:t>Communicate a supplement range with warmth and clarity, while giving every product a recognizable place within one brand.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c2fbd06d6f46a2"/>
          <a:stretch xmlns:a="http://schemas.openxmlformats.org/drawingml/2006/main"/>
        </p:blipFill>
        <p:spPr>
          <a:xfrm xmlns:a="http://schemas.openxmlformats.org/drawingml/2006/main">
            <a:off x="6800850" y="1057275"/>
            <a:ext cx="4857750" cy="4857750"/>
          </a:xfrm>
          <a:prstGeom xmlns:a="http://schemas.openxmlformats.org/drawingml/2006/main" prst="roundRect">
            <a:avLst>
              <a:gd name="adj" fmla="val 510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427266-3B40-481B-AB9E-BB538F03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66A60"/>
                </a:solidFill>
                <a:latin typeface="Nimbus Sans"/>
                <a:ea typeface="Nimbus Sans"/>
                <a:cs typeface="Nimbus Sans"/>
              </a:defRPr>
            </a:pPr>
            <a:r>
              <a:rPr sz="975" b="0">
                <a:solidFill>
                  <a:srgbClr val="766A60"/>
                </a:solidFill>
                <a:latin typeface="Nimbus Sans"/>
                <a:ea typeface="Nimbus Sans"/>
                <a:cs typeface="Nimbus Sans"/>
              </a:rPr>
              <a:t>SOORAJ SOMARAJAN  /  BRAND IDENTITY &amp; PACKAGING</a:t>
            </a:r>
          </a:p>
        </p:txBody>
      </p:sp>
    </p:spTree>
    <p:extLst>
      <p:ext uri="{BB962C8B-B14F-4D97-AF65-F5344CB8AC3E}">
        <p14:creationId xmlns:p14="http://schemas.microsoft.com/office/powerpoint/2010/main" val="16944347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6007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0D2F5D-26A5-45C6-96A6-77389162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5F0E6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F5F0E6"/>
                </a:solidFill>
                <a:latin typeface="Nimbus Sans"/>
                <a:ea typeface="Nimbus Sans"/>
                <a:cs typeface="Nimbus Sans"/>
              </a:rPr>
              <a:t>THE DESIGN RESPONSE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C4E273-03D9-4DDA-BDD4-BA9F70D0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5F0E6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F5F0E6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B4C9A-15A6-471B-818A-9C34269D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0490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6150" b="0">
                <a:solidFill>
                  <a:srgbClr val="F5F0E6"/>
                </a:solidFill>
                <a:latin typeface="Nimbus Roman"/>
                <a:ea typeface="Nimbus Roman"/>
                <a:cs typeface="Nimbus Roman"/>
              </a:defRPr>
            </a:pPr>
            <a:r>
              <a:rPr sz="6150" b="0">
                <a:solidFill>
                  <a:srgbClr val="F5F0E6"/>
                </a:solidFill>
                <a:latin typeface="Nimbus Roman"/>
                <a:ea typeface="Nimbus Roman"/>
                <a:cs typeface="Nimbus Roman"/>
              </a:rPr>
              <a:t>A warm identity.</a:t>
            </a:r>
          </a:p>
          <a:p xmlns:a="http://schemas.openxmlformats.org/drawingml/2006/main">
            <a:pPr>
              <a:defRPr sz="6150" b="0">
                <a:solidFill>
                  <a:srgbClr val="F5F0E6"/>
                </a:solidFill>
                <a:latin typeface="Nimbus Roman"/>
                <a:ea typeface="Nimbus Roman"/>
                <a:cs typeface="Nimbus Roman"/>
              </a:defRPr>
            </a:pPr>
            <a:r>
              <a:rPr sz="6150" b="0">
                <a:solidFill>
                  <a:srgbClr val="F5F0E6"/>
                </a:solidFill>
                <a:latin typeface="Nimbus Roman"/>
                <a:ea typeface="Nimbus Roman"/>
                <a:cs typeface="Nimbus Roman"/>
              </a:rPr>
              <a:t>A clear system.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B254C0-875D-437F-9E82-26E7DFCB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14775"/>
            <a:ext cx="350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5E5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47A7E-CE17-48E0-B546-E70011D4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338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AB9AA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DAB9AA"/>
                </a:solidFill>
                <a:latin typeface="Nimbus Sans"/>
                <a:ea typeface="Nimbus Sans"/>
                <a:cs typeface="Nimbus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E76C17-8B0C-4F57-A712-67B173E7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62475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5F0E6"/>
                </a:solidFill>
                <a:latin typeface="Nimbus Sans"/>
                <a:ea typeface="Nimbus Sans"/>
                <a:cs typeface="Nimbus Sans"/>
              </a:defRPr>
            </a:pPr>
            <a:r>
              <a:rPr sz="2400" b="0">
                <a:solidFill>
                  <a:srgbClr val="F5F0E6"/>
                </a:solidFill>
                <a:latin typeface="Nimbus Sans"/>
                <a:ea typeface="Nimbus Sans"/>
                <a:cs typeface="Nimbus Sans"/>
              </a:rPr>
              <a:t>Recognizable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882D36-2B5E-4034-BDCB-7EB12B9A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0175"/>
            <a:ext cx="338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5F0E6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F5F0E6"/>
                </a:solidFill>
                <a:latin typeface="Nimbus Sans"/>
                <a:ea typeface="Nimbus Sans"/>
                <a:cs typeface="Nimbus Sans"/>
              </a:rPr>
              <a:t>Deep burgundy and a prominent wordmark create a consistent visual signature.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046D64-B6DF-4960-B4CD-213CE8B2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14775"/>
            <a:ext cx="350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5E5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1969A4-0841-4597-8D8B-E39D76DD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338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AB9AA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DAB9AA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E2BB4F-04F4-4482-9821-59D34629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562475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5F0E6"/>
                </a:solidFill>
                <a:latin typeface="Nimbus Sans"/>
                <a:ea typeface="Nimbus Sans"/>
                <a:cs typeface="Nimbus Sans"/>
              </a:defRPr>
            </a:pPr>
            <a:r>
              <a:rPr sz="2400" b="0">
                <a:solidFill>
                  <a:srgbClr val="F5F0E6"/>
                </a:solidFill>
                <a:latin typeface="Nimbus Sans"/>
                <a:ea typeface="Nimbus Sans"/>
                <a:cs typeface="Nimbus Sans"/>
              </a:rPr>
              <a:t>Readable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47059E-F43A-4903-857D-1D543C5F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210175"/>
            <a:ext cx="338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5F0E6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F5F0E6"/>
                </a:solidFill>
                <a:latin typeface="Nimbus Sans"/>
                <a:ea typeface="Nimbus Sans"/>
                <a:cs typeface="Nimbus Sans"/>
              </a:rPr>
              <a:t>A clear type hierarchy separates the brand, product name, and supporting information.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6E14BD-F668-4B87-866B-6D90AFD3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14775"/>
            <a:ext cx="350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5E5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4EA465-4F5A-43E1-9E60-B8BBDAC8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338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AB9AA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DAB9AA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78F9FB-DBDE-4D6A-98EA-3A755912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62475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5F0E6"/>
                </a:solidFill>
                <a:latin typeface="Nimbus Sans"/>
                <a:ea typeface="Nimbus Sans"/>
                <a:cs typeface="Nimbus Sans"/>
              </a:defRPr>
            </a:pPr>
            <a:r>
              <a:rPr sz="2400" b="0">
                <a:solidFill>
                  <a:srgbClr val="F5F0E6"/>
                </a:solidFill>
                <a:latin typeface="Nimbus Sans"/>
                <a:ea typeface="Nimbus Sans"/>
                <a:cs typeface="Nimbus Sans"/>
              </a:rPr>
              <a:t>Approachable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DD7043-7C2D-4031-A17D-A3515136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10175"/>
            <a:ext cx="338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5F0E6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F5F0E6"/>
                </a:solidFill>
                <a:latin typeface="Nimbus Sans"/>
                <a:ea typeface="Nimbus Sans"/>
                <a:cs typeface="Nimbus Sans"/>
              </a:rPr>
              <a:t>Natural light, tactile surfaces, and everyday imagery soften the product presentation.</a:t>
            </a:r>
          </a:p>
        </p:txBody>
      </p:sp>
    </p:spTree>
    <p:extLst>
      <p:ext uri="{BB962C8B-B14F-4D97-AF65-F5344CB8AC3E}">
        <p14:creationId xmlns:p14="http://schemas.microsoft.com/office/powerpoint/2010/main" val="17949515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A428E5-AC27-4E2E-B7C4-AF0E6A85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0707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00707"/>
                </a:solidFill>
                <a:latin typeface="Nimbus Sans"/>
                <a:ea typeface="Nimbus Sans"/>
                <a:cs typeface="Nimbus Sans"/>
              </a:rPr>
              <a:t>COLOUR DIRECTION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FFFD8-FAFC-436C-A38E-EB287C27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0707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00707"/>
                </a:solidFill>
                <a:latin typeface="Nimbus Sans"/>
                <a:ea typeface="Nimbus Sans"/>
                <a:cs typeface="Nimbus San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8BA738-85DE-47CE-9DD3-66D5691A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500" b="0">
                <a:solidFill>
                  <a:srgbClr val="600707"/>
                </a:solidFill>
                <a:latin typeface="Nimbus Roman"/>
                <a:ea typeface="Nimbus Roman"/>
                <a:cs typeface="Nimbus Roman"/>
              </a:defRPr>
            </a:pPr>
            <a:r>
              <a:rPr sz="4500" b="0">
                <a:solidFill>
                  <a:srgbClr val="600707"/>
                </a:solidFill>
                <a:latin typeface="Nimbus Roman"/>
                <a:ea typeface="Nimbus Roman"/>
                <a:cs typeface="Nimbus Roman"/>
              </a:rPr>
              <a:t>Warmth. Contrast. Clarity.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2F9E40-C824-40E7-86E0-B462CD6A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7167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766A60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766A60"/>
                </a:solidFill>
                <a:latin typeface="Nimbus Sans"/>
                <a:ea typeface="Nimbus Sans"/>
                <a:cs typeface="Nimbus Sans"/>
              </a:rPr>
              <a:t>A presentation palette drawn from the supplied artwork.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283C95-298F-4E49-902F-832E5519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53340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070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56FE56-05FF-431E-8506-5634F85A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172075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5F0E6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F5F0E6"/>
                </a:solidFill>
                <a:latin typeface="Nimbus Sans"/>
                <a:ea typeface="Nimbus Sans"/>
                <a:cs typeface="Nimbus Sans"/>
              </a:rPr>
              <a:t>Burgundy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898139-FD15-4199-AE6A-CE2009E4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7531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5F0E6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F5F0E6"/>
                </a:solidFill>
                <a:latin typeface="Nimbus Sans"/>
                <a:ea typeface="Nimbus Sans"/>
                <a:cs typeface="Nimbus Sans"/>
              </a:rPr>
              <a:t>#600707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2C83D9-695E-49B8-A44B-2D8B9240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95600"/>
            <a:ext cx="2714625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66324B-4837-45EB-AE8C-661306FB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172075"/>
            <a:ext cx="2238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0070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600707"/>
                </a:solidFill>
                <a:latin typeface="Nimbus Sans"/>
                <a:ea typeface="Nimbus Sans"/>
                <a:cs typeface="Nimbus Sans"/>
              </a:rPr>
              <a:t>Warm ivory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3047EB-4189-4570-A11F-8B409929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7531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0707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600707"/>
                </a:solidFill>
                <a:latin typeface="Nimbus Sans"/>
                <a:ea typeface="Nimbus Sans"/>
                <a:cs typeface="Nimbus Sans"/>
              </a:rPr>
              <a:t>#F5F0E6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D04A17-66D7-4DA3-9F7E-336DE34C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895600"/>
            <a:ext cx="20955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BB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2E84A3-95AC-44E3-9110-F9982A8D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172075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11C19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211C19"/>
                </a:solidFill>
                <a:latin typeface="Nimbus Sans"/>
                <a:ea typeface="Nimbus Sans"/>
                <a:cs typeface="Nimbus Sans"/>
              </a:rPr>
              <a:t>Silver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C06CE3-18C8-4964-8812-0F7DBA10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7531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11C19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211C19"/>
                </a:solidFill>
                <a:latin typeface="Nimbus Sans"/>
                <a:ea typeface="Nimbus Sans"/>
                <a:cs typeface="Nimbus Sans"/>
              </a:rPr>
              <a:t>#BDBBB6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19D652-ADA9-4094-BCB8-EC7E1E27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895600"/>
            <a:ext cx="2047875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C1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3F73B1-9DB1-4EAC-91C0-1764C126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172075"/>
            <a:ext cx="1571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5F0E6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F5F0E6"/>
                </a:solidFill>
                <a:latin typeface="Nimbus Sans"/>
                <a:ea typeface="Nimbus Sans"/>
                <a:cs typeface="Nimbus Sans"/>
              </a:rPr>
              <a:t>Ink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517048-ABA7-421D-A5CE-A4B4E081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753100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5F0E6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F5F0E6"/>
                </a:solidFill>
                <a:latin typeface="Nimbus Sans"/>
                <a:ea typeface="Nimbus Sans"/>
                <a:cs typeface="Nimbus Sans"/>
              </a:rPr>
              <a:t>#211C19</a:t>
            </a:r>
          </a:p>
        </p:txBody>
      </p:sp>
    </p:spTree>
    <p:extLst>
      <p:ext uri="{BB962C8B-B14F-4D97-AF65-F5344CB8AC3E}">
        <p14:creationId xmlns:p14="http://schemas.microsoft.com/office/powerpoint/2010/main" val="3911721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C5690C-4EAD-4FB8-98BA-29A1D8D7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0707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00707"/>
                </a:solidFill>
                <a:latin typeface="Nimbus Sans"/>
                <a:ea typeface="Nimbus Sans"/>
                <a:cs typeface="Nimbus Sans"/>
              </a:rPr>
              <a:t>TYPOGRAPHY &amp; HIERARCHY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C24F5E-8ADA-46EB-92B7-0CBF8649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0707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00707"/>
                </a:solidFill>
                <a:latin typeface="Nimbus Sans"/>
                <a:ea typeface="Nimbus Sans"/>
                <a:cs typeface="Nimbus San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457C8-6C61-40E5-ADC8-AEEB1C61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800" b="0">
                <a:solidFill>
                  <a:srgbClr val="600707"/>
                </a:solidFill>
                <a:latin typeface="Nimbus Roman"/>
                <a:ea typeface="Nimbus Roman"/>
                <a:cs typeface="Nimbus Roman"/>
              </a:defRPr>
            </a:pPr>
            <a:r>
              <a:rPr sz="4800" b="0">
                <a:solidFill>
                  <a:srgbClr val="600707"/>
                </a:solidFill>
                <a:latin typeface="Nimbus Roman"/>
                <a:ea typeface="Nimbus Roman"/>
                <a:cs typeface="Nimbus Roman"/>
              </a:rPr>
              <a:t>Character meets clarity.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4639CB-654F-41D8-A0E3-A4BF852E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24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EB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204BE3-2463-424E-A448-8B44047E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05100"/>
            <a:ext cx="38100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125" b="0">
                <a:solidFill>
                  <a:srgbClr val="600707"/>
                </a:solidFill>
                <a:latin typeface="Nimbus Roman"/>
                <a:ea typeface="Nimbus Roman"/>
                <a:cs typeface="Nimbus Roman"/>
              </a:defRPr>
            </a:pPr>
            <a:r>
              <a:rPr sz="13125" b="0">
                <a:solidFill>
                  <a:srgbClr val="600707"/>
                </a:solidFill>
                <a:latin typeface="Nimbus Roman"/>
                <a:ea typeface="Nimbus Roman"/>
                <a:cs typeface="Nimbus Roman"/>
              </a:rPr>
              <a:t>Aa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64B647-2826-44AF-946B-687375F9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768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00707"/>
                </a:solidFill>
                <a:latin typeface="Nimbus Roman"/>
                <a:ea typeface="Nimbus Roman"/>
                <a:cs typeface="Nimbus Roman"/>
              </a:defRPr>
            </a:pPr>
            <a:r>
              <a:rPr sz="2250" b="0">
                <a:solidFill>
                  <a:srgbClr val="600707"/>
                </a:solidFill>
                <a:latin typeface="Nimbus Roman"/>
                <a:ea typeface="Nimbus Roman"/>
                <a:cs typeface="Nimbus Roman"/>
              </a:rPr>
              <a:t>Expressive serif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8A17A1-C473-4DF8-957A-0A323E14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466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766A60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766A60"/>
                </a:solidFill>
                <a:latin typeface="Nimbus Sans"/>
                <a:ea typeface="Nimbus Sans"/>
                <a:cs typeface="Nimbus Sans"/>
              </a:rPr>
              <a:t>Brings character to the brand name</a:t>
            </a:r>
          </a:p>
          <a:p xmlns:a="http://schemas.openxmlformats.org/drawingml/2006/main">
            <a:pPr>
              <a:defRPr sz="1800" b="0">
                <a:solidFill>
                  <a:srgbClr val="766A60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766A60"/>
                </a:solidFill>
                <a:latin typeface="Nimbus Sans"/>
                <a:ea typeface="Nimbus Sans"/>
                <a:cs typeface="Nimbus Sans"/>
              </a:rPr>
              <a:t>and editorial moments.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34EE1C-2B32-4E17-9D54-2F02E0C8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67000"/>
            <a:ext cx="49530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375" b="1">
                <a:solidFill>
                  <a:srgbClr val="600707"/>
                </a:solidFill>
                <a:latin typeface="Nimbus Sans"/>
                <a:ea typeface="Nimbus Sans"/>
                <a:cs typeface="Nimbus Sans"/>
              </a:defRPr>
            </a:pPr>
            <a:r>
              <a:rPr sz="12375" b="1">
                <a:solidFill>
                  <a:srgbClr val="600707"/>
                </a:solidFill>
                <a:latin typeface="Nimbus Sans"/>
                <a:ea typeface="Nimbus Sans"/>
                <a:cs typeface="Nimbus Sans"/>
              </a:rPr>
              <a:t>Aa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8429EE-43F1-4E0D-AB85-66F3600C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768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00707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600707"/>
                </a:solidFill>
                <a:latin typeface="Nimbus Sans"/>
                <a:ea typeface="Nimbus Sans"/>
                <a:cs typeface="Nimbus Sans"/>
              </a:rPr>
              <a:t>Direct sans serif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83EF47-0D64-491D-A0C6-A6974B0D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29250"/>
            <a:ext cx="457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766A60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766A60"/>
                </a:solidFill>
                <a:latin typeface="Nimbus Sans"/>
                <a:ea typeface="Nimbus Sans"/>
                <a:cs typeface="Nimbus Sans"/>
              </a:rPr>
              <a:t>Keeps product names, supporting details,</a:t>
            </a:r>
          </a:p>
          <a:p xmlns:a="http://schemas.openxmlformats.org/drawingml/2006/main">
            <a:pPr>
              <a:defRPr sz="1800" b="0">
                <a:solidFill>
                  <a:srgbClr val="766A60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766A60"/>
                </a:solidFill>
                <a:latin typeface="Nimbus Sans"/>
                <a:ea typeface="Nimbus Sans"/>
                <a:cs typeface="Nimbus Sans"/>
              </a:rPr>
              <a:t>and navigation easy to scan.</a:t>
            </a:r>
          </a:p>
        </p:txBody>
      </p:sp>
    </p:spTree>
    <p:extLst>
      <p:ext uri="{BB962C8B-B14F-4D97-AF65-F5344CB8AC3E}">
        <p14:creationId xmlns:p14="http://schemas.microsoft.com/office/powerpoint/2010/main" val="4687379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6007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3CA1C-2264-4B4A-89EE-1BE8CDFC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5F0E6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F5F0E6"/>
                </a:solidFill>
                <a:latin typeface="Nimbus Sans"/>
                <a:ea typeface="Nimbus Sans"/>
                <a:cs typeface="Nimbus Sans"/>
              </a:rPr>
              <a:t>PACKAGING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CE3E19-80DF-4E72-9A4D-CC8501E9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5F0E6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F5F0E6"/>
                </a:solidFill>
                <a:latin typeface="Nimbus Sans"/>
                <a:ea typeface="Nimbus Sans"/>
                <a:cs typeface="Nimbus Sans"/>
              </a:rPr>
              <a:t>06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8d308f78b2480e"/>
          <a:stretch xmlns:a="http://schemas.openxmlformats.org/drawingml/2006/main"/>
        </p:blipFill>
        <p:spPr>
          <a:xfrm xmlns:a="http://schemas.openxmlformats.org/drawingml/2006/main">
            <a:off x="133350" y="590550"/>
            <a:ext cx="6134100" cy="6134100"/>
          </a:xfrm>
          <a:prstGeom xmlns:a="http://schemas.openxmlformats.org/drawingml/2006/main" prst="roundRect">
            <a:avLst>
              <a:gd name="adj" fmla="val 5100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1D4312-AC89-4F9A-8C12-C3953701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371600"/>
            <a:ext cx="476250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275" b="0">
                <a:solidFill>
                  <a:srgbClr val="F5F0E6"/>
                </a:solidFill>
                <a:latin typeface="Nimbus Roman"/>
                <a:ea typeface="Nimbus Roman"/>
                <a:cs typeface="Nimbus Roman"/>
              </a:defRPr>
            </a:pPr>
            <a:r>
              <a:rPr sz="4275" b="0">
                <a:solidFill>
                  <a:srgbClr val="F5F0E6"/>
                </a:solidFill>
                <a:latin typeface="Nimbus Roman"/>
                <a:ea typeface="Nimbus Roman"/>
                <a:cs typeface="Nimbus Roman"/>
              </a:rPr>
              <a:t>One system.</a:t>
            </a:r>
          </a:p>
          <a:p xmlns:a="http://schemas.openxmlformats.org/drawingml/2006/main">
            <a:pPr>
              <a:defRPr sz="4275" b="0">
                <a:solidFill>
                  <a:srgbClr val="F5F0E6"/>
                </a:solidFill>
                <a:latin typeface="Nimbus Roman"/>
                <a:ea typeface="Nimbus Roman"/>
                <a:cs typeface="Nimbus Roman"/>
              </a:defRPr>
            </a:pPr>
            <a:r>
              <a:rPr sz="4275" b="0">
                <a:solidFill>
                  <a:srgbClr val="F5F0E6"/>
                </a:solidFill>
                <a:latin typeface="Nimbus Roman"/>
                <a:ea typeface="Nimbus Roman"/>
                <a:cs typeface="Nimbus Roman"/>
              </a:rPr>
              <a:t>Distinct products.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D99320-9654-425D-ADAE-5DF5BE07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86150"/>
            <a:ext cx="4524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0E6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F5F0E6"/>
                </a:solidFill>
                <a:latin typeface="Nimbus Sans"/>
                <a:ea typeface="Nimbus Sans"/>
                <a:cs typeface="Nimbus Sans"/>
              </a:rPr>
              <a:t>A consistent hierarchy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317F21-848C-45EC-BDA0-00528B84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76700"/>
            <a:ext cx="43053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5F0E6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F5F0E6"/>
                </a:solidFill>
                <a:latin typeface="Nimbus Sans"/>
                <a:ea typeface="Nimbus Sans"/>
                <a:cs typeface="Nimbus Sans"/>
              </a:rPr>
              <a:t>The vertical brand name anchors the pack. The product name takes priority, followed by the formula descriptor and capsule count.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083574-D7DF-47E1-993A-814B554B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9817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AB9AA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DAB9AA"/>
                </a:solidFill>
                <a:latin typeface="Nimbus Sans"/>
                <a:ea typeface="Nimbus Sans"/>
                <a:cs typeface="Nimbus Sans"/>
              </a:rPr>
              <a:t>BRAND / PRODUCT / DETAILS</a:t>
            </a:r>
          </a:p>
        </p:txBody>
      </p:sp>
    </p:spTree>
    <p:extLst>
      <p:ext uri="{BB962C8B-B14F-4D97-AF65-F5344CB8AC3E}">
        <p14:creationId xmlns:p14="http://schemas.microsoft.com/office/powerpoint/2010/main" val="11277628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304ca856f54cf3"/>
          <a:stretch xmlns:a="http://schemas.openxmlformats.org/drawingml/2006/main"/>
        </p:blipFill>
        <p:spPr>
          <a:xfrm xmlns:a="http://schemas.openxmlformats.org/drawingml/2006/main">
            <a:off x="999067" y="0"/>
            <a:ext cx="10193867" cy="5734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EDC22E-72D3-4F7C-9E5F-4F065C60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0075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600707"/>
                </a:solidFill>
                <a:latin typeface="Nimbus Roman"/>
                <a:ea typeface="Nimbus Roman"/>
                <a:cs typeface="Nimbus Roman"/>
              </a:defRPr>
            </a:pPr>
            <a:r>
              <a:rPr sz="2550" b="0">
                <a:solidFill>
                  <a:srgbClr val="600707"/>
                </a:solidFill>
                <a:latin typeface="Nimbus Roman"/>
                <a:ea typeface="Nimbus Roman"/>
                <a:cs typeface="Nimbus Roman"/>
              </a:rPr>
              <a:t>Art direction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7A810-F1BF-4F06-A258-93CC3AFD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60960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11C19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211C19"/>
                </a:solidFill>
                <a:latin typeface="Nimbus Sans"/>
                <a:ea typeface="Nimbus Sans"/>
                <a:cs typeface="Nimbus Sans"/>
              </a:rPr>
              <a:t>Natural light. Tactile surfaces. A product-led composition.</a:t>
            </a:r>
          </a:p>
        </p:txBody>
      </p:sp>
    </p:spTree>
    <p:extLst>
      <p:ext uri="{BB962C8B-B14F-4D97-AF65-F5344CB8AC3E}">
        <p14:creationId xmlns:p14="http://schemas.microsoft.com/office/powerpoint/2010/main" val="9915849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6007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F36510-7AB8-4FDD-9F75-D891AD61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5F0E6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F5F0E6"/>
                </a:solidFill>
                <a:latin typeface="Nimbus Sans"/>
                <a:ea typeface="Nimbus Sans"/>
                <a:cs typeface="Nimbus Sans"/>
              </a:rPr>
              <a:t>MATERIAL &amp; DETAIL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CAF22B-8856-4F8A-9532-6F0B98B7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5F0E6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F5F0E6"/>
                </a:solidFill>
                <a:latin typeface="Nimbus Sans"/>
                <a:ea typeface="Nimbus Sans"/>
                <a:cs typeface="Nimbus San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3B6D83-0EE6-4D25-AA3A-49629E67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53530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F5F0E6"/>
                </a:solidFill>
                <a:latin typeface="Nimbus Roman"/>
                <a:ea typeface="Nimbus Roman"/>
                <a:cs typeface="Nimbus Roman"/>
              </a:defRPr>
            </a:pPr>
            <a:r>
              <a:rPr sz="4950" b="0">
                <a:solidFill>
                  <a:srgbClr val="F5F0E6"/>
                </a:solidFill>
                <a:latin typeface="Nimbus Roman"/>
                <a:ea typeface="Nimbus Roman"/>
                <a:cs typeface="Nimbus Roman"/>
              </a:rPr>
              <a:t>The detail</a:t>
            </a:r>
          </a:p>
          <a:p xmlns:a="http://schemas.openxmlformats.org/drawingml/2006/main">
            <a:pPr>
              <a:defRPr sz="4950" b="0">
                <a:solidFill>
                  <a:srgbClr val="F5F0E6"/>
                </a:solidFill>
                <a:latin typeface="Nimbus Roman"/>
                <a:ea typeface="Nimbus Roman"/>
                <a:cs typeface="Nimbus Roman"/>
              </a:defRPr>
            </a:pPr>
            <a:r>
              <a:rPr sz="4950" b="0">
                <a:solidFill>
                  <a:srgbClr val="F5F0E6"/>
                </a:solidFill>
                <a:latin typeface="Nimbus Roman"/>
                <a:ea typeface="Nimbus Roman"/>
                <a:cs typeface="Nimbus Roman"/>
              </a:rPr>
              <a:t>builds the feel.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22DC39-5C97-4649-B215-297B7DC9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14800"/>
            <a:ext cx="47053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5F0E6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F5F0E6"/>
                </a:solidFill>
                <a:latin typeface="Nimbus Sans"/>
                <a:ea typeface="Nimbus Sans"/>
                <a:cs typeface="Nimbus Sans"/>
              </a:rPr>
              <a:t>Translucent burgundy glass and a brushed silver lid bring depth and contrast to the packaging presentation.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11F023-293D-4F02-A395-28C220E9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24575"/>
            <a:ext cx="500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AB9AA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>
                <a:solidFill>
                  <a:srgbClr val="DAB9AA"/>
                </a:solidFill>
                <a:latin typeface="Nimbus Sans"/>
                <a:ea typeface="Nimbus Sans"/>
                <a:cs typeface="Nimbus Sans"/>
              </a:rPr>
              <a:t>PRODUCT VISUALIZATION CONCEPT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64d4fd90cd446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952500"/>
            <a:ext cx="5181600" cy="5181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8907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460451-47CE-4375-BDE6-0BA4C77E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0707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00707"/>
                </a:solidFill>
                <a:latin typeface="Nimbus Sans"/>
                <a:ea typeface="Nimbus Sans"/>
                <a:cs typeface="Nimbus Sans"/>
              </a:rPr>
              <a:t>DIGITAL EXTENSION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6AFE9C-3DFA-4DA3-B0E3-8FE57133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0707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00707"/>
                </a:solidFill>
                <a:latin typeface="Nimbus Sans"/>
                <a:ea typeface="Nimbus Sans"/>
                <a:cs typeface="Nimbus San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E4141A-53AC-46A5-B891-7E21001F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500" b="0">
                <a:solidFill>
                  <a:srgbClr val="600707"/>
                </a:solidFill>
                <a:latin typeface="Nimbus Roman"/>
                <a:ea typeface="Nimbus Roman"/>
                <a:cs typeface="Nimbus Roman"/>
              </a:defRPr>
            </a:pPr>
            <a:r>
              <a:rPr sz="4500" b="0">
                <a:solidFill>
                  <a:srgbClr val="600707"/>
                </a:solidFill>
                <a:latin typeface="Nimbus Roman"/>
                <a:ea typeface="Nimbus Roman"/>
                <a:cs typeface="Nimbus Roman"/>
              </a:rPr>
              <a:t>The same identity, online.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30DBB-4B6D-4B32-9B59-2FA76765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716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66A60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766A60"/>
                </a:solidFill>
                <a:latin typeface="Nimbus Sans"/>
                <a:ea typeface="Nimbus Sans"/>
                <a:cs typeface="Nimbus Sans"/>
              </a:rPr>
              <a:t>Burgundy typography and product imagery carry the visual system into the homepage.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a62c9bc4d943e3"/>
          <a:stretch xmlns:a="http://schemas.openxmlformats.org/drawingml/2006/main"/>
        </p:blipFill>
        <p:spPr>
          <a:xfrm xmlns:a="http://schemas.openxmlformats.org/drawingml/2006/main">
            <a:off x="1527089" y="2114550"/>
            <a:ext cx="9137822" cy="4695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3146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6007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A9DB8C-6243-4B93-875D-C0625CC2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5F0E6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F5F0E6"/>
                </a:solidFill>
                <a:latin typeface="Nimbus Sans"/>
                <a:ea typeface="Nimbus Sans"/>
                <a:cs typeface="Nimbus Sans"/>
              </a:rPr>
              <a:t>DESIGN OUTCOME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A3E396-655D-4B6F-8126-2DA7D185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5F0E6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F5F0E6"/>
                </a:solidFill>
                <a:latin typeface="Nimbus Sans"/>
                <a:ea typeface="Nimbus Sans"/>
                <a:cs typeface="Nimbus San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986EE-F37C-4C42-8767-4FB3AB1F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85875"/>
            <a:ext cx="10953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5700" b="0">
                <a:solidFill>
                  <a:srgbClr val="F5F0E6"/>
                </a:solidFill>
                <a:latin typeface="Nimbus Roman"/>
                <a:ea typeface="Nimbus Roman"/>
                <a:cs typeface="Nimbus Roman"/>
              </a:defRPr>
            </a:pPr>
            <a:r>
              <a:rPr sz="5700" b="0">
                <a:solidFill>
                  <a:srgbClr val="F5F0E6"/>
                </a:solidFill>
                <a:latin typeface="Nimbus Roman"/>
                <a:ea typeface="Nimbus Roman"/>
                <a:cs typeface="Nimbus Roman"/>
              </a:rPr>
              <a:t>A recognizable</a:t>
            </a:r>
          </a:p>
          <a:p xmlns:a="http://schemas.openxmlformats.org/drawingml/2006/main">
            <a:pPr>
              <a:defRPr sz="5700" b="0">
                <a:solidFill>
                  <a:srgbClr val="F5F0E6"/>
                </a:solidFill>
                <a:latin typeface="Nimbus Roman"/>
                <a:ea typeface="Nimbus Roman"/>
                <a:cs typeface="Nimbus Roman"/>
              </a:defRPr>
            </a:pPr>
            <a:r>
              <a:rPr sz="5700" b="0">
                <a:solidFill>
                  <a:srgbClr val="F5F0E6"/>
                </a:solidFill>
                <a:latin typeface="Nimbus Roman"/>
                <a:ea typeface="Nimbus Roman"/>
                <a:cs typeface="Nimbus Roman"/>
              </a:rPr>
              <a:t>world for iMinerals.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558F53-DD5A-4784-B9A9-B1C1B37F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0522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5E5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5927BA-905A-4710-81A4-0C43E89C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5F0E6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F5F0E6"/>
                </a:solidFill>
                <a:latin typeface="Nimbus Sans"/>
                <a:ea typeface="Nimbus Sans"/>
                <a:cs typeface="Nimbus Sans"/>
              </a:rPr>
              <a:t>The visual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FDD908-5DDA-4F2E-B981-A3EFD782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152900"/>
            <a:ext cx="6200775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5F0E6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F5F0E6"/>
                </a:solidFill>
                <a:latin typeface="Nimbus Sans"/>
                <a:ea typeface="Nimbus Sans"/>
                <a:cs typeface="Nimbus Sans"/>
              </a:rPr>
              <a:t>A consistent colour palette, expressive typography, structured packaging, and warm imagery connect the brand across print and digital touchpoints.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936B60-1364-4E40-85D5-FA6C23B8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030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AB9AA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DAB9AA"/>
                </a:solidFill>
                <a:latin typeface="Nimbus Sans"/>
                <a:ea typeface="Nimbus Sans"/>
                <a:cs typeface="Nimbus Sans"/>
              </a:rPr>
              <a:t>IDENTITY  /  PACKAGING  /  ART DIRECTION  /  DIGITAL DESIGN</a:t>
            </a:r>
          </a:p>
        </p:txBody>
      </p:sp>
    </p:spTree>
    <p:extLst>
      <p:ext uri="{BB962C8B-B14F-4D97-AF65-F5344CB8AC3E}">
        <p14:creationId xmlns:p14="http://schemas.microsoft.com/office/powerpoint/2010/main" val="14947319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2026-10-05T17:05:00.7070000Z</dcterms:created>
  <dcterms:modified xsi:type="dcterms:W3CDTF">2026-10-05T17:05:00.7080000Z</dcterms:modified>
</coreProperties>
</file>